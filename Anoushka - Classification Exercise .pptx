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F8892-B4BD-B9DF-CCB9-8DD07E1C8B48}" v="489" dt="2025-09-09T00:28:03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56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6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4D1BD5-5A6D-4BF9-A950-AF56AD7BCE18}" type="doc">
      <dgm:prSet loTypeId="urn:microsoft.com/office/officeart/2005/8/layout/cycle3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C156E73-BA21-40CF-BCAF-9334884901DA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Data Discovery and Exploration</a:t>
          </a:r>
          <a:endParaRPr lang="en-US" dirty="0"/>
        </a:p>
      </dgm:t>
    </dgm:pt>
    <dgm:pt modelId="{50D81AA2-D872-4DEC-9AF4-F71830503867}" type="parTrans" cxnId="{994D821A-C110-45EF-A59C-51FBE74C7A6B}">
      <dgm:prSet/>
      <dgm:spPr/>
      <dgm:t>
        <a:bodyPr/>
        <a:lstStyle/>
        <a:p>
          <a:endParaRPr lang="en-US"/>
        </a:p>
      </dgm:t>
    </dgm:pt>
    <dgm:pt modelId="{63B4D2EB-B1F4-4A4E-99AF-A1B162F8FF4E}" type="sibTrans" cxnId="{994D821A-C110-45EF-A59C-51FBE74C7A6B}">
      <dgm:prSet/>
      <dgm:spPr/>
      <dgm:t>
        <a:bodyPr/>
        <a:lstStyle/>
        <a:p>
          <a:endParaRPr lang="en-US"/>
        </a:p>
      </dgm:t>
    </dgm:pt>
    <dgm:pt modelId="{342B9F8D-6A43-45E6-9302-596C46D36394}">
      <dgm:prSet phldrT="[Text]" phldr="0"/>
      <dgm:spPr/>
      <dgm:t>
        <a:bodyPr/>
        <a:lstStyle/>
        <a:p>
          <a:r>
            <a:rPr lang="en-US" dirty="0">
              <a:latin typeface="Grandview Display"/>
            </a:rPr>
            <a:t>Pre-Processing</a:t>
          </a:r>
          <a:endParaRPr lang="en-US" dirty="0"/>
        </a:p>
      </dgm:t>
    </dgm:pt>
    <dgm:pt modelId="{E109C258-9961-4FBC-9020-0AB83E9A8CF6}" type="parTrans" cxnId="{A6D32859-E8EE-4562-83C8-32174FBA3CF9}">
      <dgm:prSet/>
      <dgm:spPr/>
      <dgm:t>
        <a:bodyPr/>
        <a:lstStyle/>
        <a:p>
          <a:endParaRPr lang="en-US"/>
        </a:p>
      </dgm:t>
    </dgm:pt>
    <dgm:pt modelId="{15ED5B47-3EFD-459C-A3D0-9A8475A08EC4}" type="sibTrans" cxnId="{A6D32859-E8EE-4562-83C8-32174FBA3CF9}">
      <dgm:prSet/>
      <dgm:spPr/>
      <dgm:t>
        <a:bodyPr/>
        <a:lstStyle/>
        <a:p>
          <a:endParaRPr lang="en-US"/>
        </a:p>
      </dgm:t>
    </dgm:pt>
    <dgm:pt modelId="{DAF406DF-4C14-49F1-9CBB-ECE05581465F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Data Mining</a:t>
          </a:r>
          <a:endParaRPr lang="en-US" dirty="0"/>
        </a:p>
      </dgm:t>
    </dgm:pt>
    <dgm:pt modelId="{58F7D2F7-69E3-4280-BC0C-8D80C2FD2A74}" type="parTrans" cxnId="{30682E33-F191-4B92-B645-4B005DA65D48}">
      <dgm:prSet/>
      <dgm:spPr/>
      <dgm:t>
        <a:bodyPr/>
        <a:lstStyle/>
        <a:p>
          <a:endParaRPr lang="en-US"/>
        </a:p>
      </dgm:t>
    </dgm:pt>
    <dgm:pt modelId="{9CC711FF-855A-4E7F-BB9C-03539D6A73D3}" type="sibTrans" cxnId="{30682E33-F191-4B92-B645-4B005DA65D48}">
      <dgm:prSet/>
      <dgm:spPr/>
      <dgm:t>
        <a:bodyPr/>
        <a:lstStyle/>
        <a:p>
          <a:endParaRPr lang="en-US"/>
        </a:p>
      </dgm:t>
    </dgm:pt>
    <dgm:pt modelId="{9D9299F3-1D87-4400-A2CE-19F89C65AE37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Information Developement</a:t>
          </a:r>
          <a:endParaRPr lang="en-US" dirty="0"/>
        </a:p>
      </dgm:t>
    </dgm:pt>
    <dgm:pt modelId="{44B912F0-03D3-4F0A-A18B-DEBCAABEF5F6}" type="parTrans" cxnId="{F91758B4-B8E4-46DA-A070-8CCE41DB9399}">
      <dgm:prSet/>
      <dgm:spPr/>
      <dgm:t>
        <a:bodyPr/>
        <a:lstStyle/>
        <a:p>
          <a:endParaRPr lang="en-US"/>
        </a:p>
      </dgm:t>
    </dgm:pt>
    <dgm:pt modelId="{DA4FA022-414C-472C-95CD-85E30228FF9F}" type="sibTrans" cxnId="{F91758B4-B8E4-46DA-A070-8CCE41DB9399}">
      <dgm:prSet/>
      <dgm:spPr/>
      <dgm:t>
        <a:bodyPr/>
        <a:lstStyle/>
        <a:p>
          <a:endParaRPr lang="en-US"/>
        </a:p>
      </dgm:t>
    </dgm:pt>
    <dgm:pt modelId="{5EF0B349-8CB0-4F21-BB57-9A6C05269754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Outcome Communication</a:t>
          </a:r>
          <a:endParaRPr lang="en-US" dirty="0"/>
        </a:p>
      </dgm:t>
    </dgm:pt>
    <dgm:pt modelId="{9F8FA470-5D31-488D-BFE8-BA5CEF5DC915}" type="parTrans" cxnId="{0668B819-0D5E-4688-8EC2-F1FEE467FB30}">
      <dgm:prSet/>
      <dgm:spPr/>
      <dgm:t>
        <a:bodyPr/>
        <a:lstStyle/>
        <a:p>
          <a:endParaRPr lang="en-US"/>
        </a:p>
      </dgm:t>
    </dgm:pt>
    <dgm:pt modelId="{323EFC83-E4EB-4A45-9EA0-FD1D8C52D281}" type="sibTrans" cxnId="{0668B819-0D5E-4688-8EC2-F1FEE467FB30}">
      <dgm:prSet/>
      <dgm:spPr/>
      <dgm:t>
        <a:bodyPr/>
        <a:lstStyle/>
        <a:p>
          <a:endParaRPr lang="en-US"/>
        </a:p>
      </dgm:t>
    </dgm:pt>
    <dgm:pt modelId="{AD1A0F24-4774-466B-970E-F7A40BA2C8CB}">
      <dgm:prSet phldr="0"/>
      <dgm:spPr/>
      <dgm:t>
        <a:bodyPr/>
        <a:lstStyle/>
        <a:p>
          <a:pPr rtl="0"/>
          <a:r>
            <a:rPr lang="en-US" dirty="0">
              <a:latin typeface="Grandview Display"/>
            </a:rPr>
            <a:t>Post-Processing</a:t>
          </a:r>
        </a:p>
      </dgm:t>
    </dgm:pt>
    <dgm:pt modelId="{78A51EE4-EF90-422C-9ED2-88964232B940}" type="parTrans" cxnId="{6155D85F-A7BC-4F05-88C4-E9745578270B}">
      <dgm:prSet/>
      <dgm:spPr/>
    </dgm:pt>
    <dgm:pt modelId="{2F15E272-9026-4EE0-8A78-31E86FD80909}" type="sibTrans" cxnId="{6155D85F-A7BC-4F05-88C4-E9745578270B}">
      <dgm:prSet/>
      <dgm:spPr/>
    </dgm:pt>
    <dgm:pt modelId="{8503C30E-57F8-4FD9-B773-8A78E3A41C8A}" type="pres">
      <dgm:prSet presAssocID="{CF4D1BD5-5A6D-4BF9-A950-AF56AD7BCE18}" presName="Name0" presStyleCnt="0">
        <dgm:presLayoutVars>
          <dgm:dir/>
          <dgm:resizeHandles val="exact"/>
        </dgm:presLayoutVars>
      </dgm:prSet>
      <dgm:spPr/>
    </dgm:pt>
    <dgm:pt modelId="{B7B30AB4-30F2-49BF-B06B-6409F3AEFE08}" type="pres">
      <dgm:prSet presAssocID="{CF4D1BD5-5A6D-4BF9-A950-AF56AD7BCE18}" presName="cycle" presStyleCnt="0"/>
      <dgm:spPr/>
    </dgm:pt>
    <dgm:pt modelId="{8CAA299D-682C-4705-B469-9873DF3F284C}" type="pres">
      <dgm:prSet presAssocID="{9C156E73-BA21-40CF-BCAF-9334884901DA}" presName="nodeFirstNode" presStyleLbl="node1" presStyleIdx="0" presStyleCnt="6">
        <dgm:presLayoutVars>
          <dgm:bulletEnabled val="1"/>
        </dgm:presLayoutVars>
      </dgm:prSet>
      <dgm:spPr/>
    </dgm:pt>
    <dgm:pt modelId="{70C449D7-3047-4927-A267-24D5459F8764}" type="pres">
      <dgm:prSet presAssocID="{63B4D2EB-B1F4-4A4E-99AF-A1B162F8FF4E}" presName="sibTransFirstNode" presStyleLbl="bgShp" presStyleIdx="0" presStyleCnt="1"/>
      <dgm:spPr/>
    </dgm:pt>
    <dgm:pt modelId="{955992B9-1124-490A-BEBC-942E8103EA1D}" type="pres">
      <dgm:prSet presAssocID="{342B9F8D-6A43-45E6-9302-596C46D36394}" presName="nodeFollowingNodes" presStyleLbl="node1" presStyleIdx="1" presStyleCnt="6">
        <dgm:presLayoutVars>
          <dgm:bulletEnabled val="1"/>
        </dgm:presLayoutVars>
      </dgm:prSet>
      <dgm:spPr/>
    </dgm:pt>
    <dgm:pt modelId="{21C67018-8477-48BC-AFF7-942B536B0F71}" type="pres">
      <dgm:prSet presAssocID="{DAF406DF-4C14-49F1-9CBB-ECE05581465F}" presName="nodeFollowingNodes" presStyleLbl="node1" presStyleIdx="2" presStyleCnt="6">
        <dgm:presLayoutVars>
          <dgm:bulletEnabled val="1"/>
        </dgm:presLayoutVars>
      </dgm:prSet>
      <dgm:spPr/>
    </dgm:pt>
    <dgm:pt modelId="{00884E90-C766-4882-B77E-E9AFA57FA0FF}" type="pres">
      <dgm:prSet presAssocID="{AD1A0F24-4774-466B-970E-F7A40BA2C8CB}" presName="nodeFollowingNodes" presStyleLbl="node1" presStyleIdx="3" presStyleCnt="6">
        <dgm:presLayoutVars>
          <dgm:bulletEnabled val="1"/>
        </dgm:presLayoutVars>
      </dgm:prSet>
      <dgm:spPr/>
    </dgm:pt>
    <dgm:pt modelId="{97F94DB8-28D3-40F6-B21C-E564D46C2689}" type="pres">
      <dgm:prSet presAssocID="{9D9299F3-1D87-4400-A2CE-19F89C65AE37}" presName="nodeFollowingNodes" presStyleLbl="node1" presStyleIdx="4" presStyleCnt="6">
        <dgm:presLayoutVars>
          <dgm:bulletEnabled val="1"/>
        </dgm:presLayoutVars>
      </dgm:prSet>
      <dgm:spPr/>
    </dgm:pt>
    <dgm:pt modelId="{74F887BA-9C49-44B0-BD0E-045C0DB59A27}" type="pres">
      <dgm:prSet presAssocID="{5EF0B349-8CB0-4F21-BB57-9A6C05269754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74921809-D441-4D65-8E84-2E0013BD7500}" type="presOf" srcId="{9D9299F3-1D87-4400-A2CE-19F89C65AE37}" destId="{97F94DB8-28D3-40F6-B21C-E564D46C2689}" srcOrd="0" destOrd="0" presId="urn:microsoft.com/office/officeart/2005/8/layout/cycle3"/>
    <dgm:cxn modelId="{0668B819-0D5E-4688-8EC2-F1FEE467FB30}" srcId="{CF4D1BD5-5A6D-4BF9-A950-AF56AD7BCE18}" destId="{5EF0B349-8CB0-4F21-BB57-9A6C05269754}" srcOrd="5" destOrd="0" parTransId="{9F8FA470-5D31-488D-BFE8-BA5CEF5DC915}" sibTransId="{323EFC83-E4EB-4A45-9EA0-FD1D8C52D281}"/>
    <dgm:cxn modelId="{994D821A-C110-45EF-A59C-51FBE74C7A6B}" srcId="{CF4D1BD5-5A6D-4BF9-A950-AF56AD7BCE18}" destId="{9C156E73-BA21-40CF-BCAF-9334884901DA}" srcOrd="0" destOrd="0" parTransId="{50D81AA2-D872-4DEC-9AF4-F71830503867}" sibTransId="{63B4D2EB-B1F4-4A4E-99AF-A1B162F8FF4E}"/>
    <dgm:cxn modelId="{30682E33-F191-4B92-B645-4B005DA65D48}" srcId="{CF4D1BD5-5A6D-4BF9-A950-AF56AD7BCE18}" destId="{DAF406DF-4C14-49F1-9CBB-ECE05581465F}" srcOrd="2" destOrd="0" parTransId="{58F7D2F7-69E3-4280-BC0C-8D80C2FD2A74}" sibTransId="{9CC711FF-855A-4E7F-BB9C-03539D6A73D3}"/>
    <dgm:cxn modelId="{346A6A3D-71CF-4F08-9F25-12C374EA29E8}" type="presOf" srcId="{DAF406DF-4C14-49F1-9CBB-ECE05581465F}" destId="{21C67018-8477-48BC-AFF7-942B536B0F71}" srcOrd="0" destOrd="0" presId="urn:microsoft.com/office/officeart/2005/8/layout/cycle3"/>
    <dgm:cxn modelId="{CA330551-B1AD-495D-8C03-6DE55E1DAAB8}" type="presOf" srcId="{63B4D2EB-B1F4-4A4E-99AF-A1B162F8FF4E}" destId="{70C449D7-3047-4927-A267-24D5459F8764}" srcOrd="0" destOrd="0" presId="urn:microsoft.com/office/officeart/2005/8/layout/cycle3"/>
    <dgm:cxn modelId="{A6D32859-E8EE-4562-83C8-32174FBA3CF9}" srcId="{CF4D1BD5-5A6D-4BF9-A950-AF56AD7BCE18}" destId="{342B9F8D-6A43-45E6-9302-596C46D36394}" srcOrd="1" destOrd="0" parTransId="{E109C258-9961-4FBC-9020-0AB83E9A8CF6}" sibTransId="{15ED5B47-3EFD-459C-A3D0-9A8475A08EC4}"/>
    <dgm:cxn modelId="{2EA1135C-0B0A-46BD-A35F-E92642D11471}" type="presOf" srcId="{CF4D1BD5-5A6D-4BF9-A950-AF56AD7BCE18}" destId="{8503C30E-57F8-4FD9-B773-8A78E3A41C8A}" srcOrd="0" destOrd="0" presId="urn:microsoft.com/office/officeart/2005/8/layout/cycle3"/>
    <dgm:cxn modelId="{6155D85F-A7BC-4F05-88C4-E9745578270B}" srcId="{CF4D1BD5-5A6D-4BF9-A950-AF56AD7BCE18}" destId="{AD1A0F24-4774-466B-970E-F7A40BA2C8CB}" srcOrd="3" destOrd="0" parTransId="{78A51EE4-EF90-422C-9ED2-88964232B940}" sibTransId="{2F15E272-9026-4EE0-8A78-31E86FD80909}"/>
    <dgm:cxn modelId="{20FF3371-F714-43EE-B676-6C0D59B301E0}" type="presOf" srcId="{342B9F8D-6A43-45E6-9302-596C46D36394}" destId="{955992B9-1124-490A-BEBC-942E8103EA1D}" srcOrd="0" destOrd="0" presId="urn:microsoft.com/office/officeart/2005/8/layout/cycle3"/>
    <dgm:cxn modelId="{778C1875-75B7-4B48-B196-0D017077D560}" type="presOf" srcId="{AD1A0F24-4774-466B-970E-F7A40BA2C8CB}" destId="{00884E90-C766-4882-B77E-E9AFA57FA0FF}" srcOrd="0" destOrd="0" presId="urn:microsoft.com/office/officeart/2005/8/layout/cycle3"/>
    <dgm:cxn modelId="{3F4F7E76-5C51-42BA-A4C2-8A54F50031C4}" type="presOf" srcId="{5EF0B349-8CB0-4F21-BB57-9A6C05269754}" destId="{74F887BA-9C49-44B0-BD0E-045C0DB59A27}" srcOrd="0" destOrd="0" presId="urn:microsoft.com/office/officeart/2005/8/layout/cycle3"/>
    <dgm:cxn modelId="{F91758B4-B8E4-46DA-A070-8CCE41DB9399}" srcId="{CF4D1BD5-5A6D-4BF9-A950-AF56AD7BCE18}" destId="{9D9299F3-1D87-4400-A2CE-19F89C65AE37}" srcOrd="4" destOrd="0" parTransId="{44B912F0-03D3-4F0A-A18B-DEBCAABEF5F6}" sibTransId="{DA4FA022-414C-472C-95CD-85E30228FF9F}"/>
    <dgm:cxn modelId="{5DAA91F4-BC87-4483-BC41-28F7683706A2}" type="presOf" srcId="{9C156E73-BA21-40CF-BCAF-9334884901DA}" destId="{8CAA299D-682C-4705-B469-9873DF3F284C}" srcOrd="0" destOrd="0" presId="urn:microsoft.com/office/officeart/2005/8/layout/cycle3"/>
    <dgm:cxn modelId="{D81E1522-A6D8-4B36-B465-DFC04F2A16B2}" type="presParOf" srcId="{8503C30E-57F8-4FD9-B773-8A78E3A41C8A}" destId="{B7B30AB4-30F2-49BF-B06B-6409F3AEFE08}" srcOrd="0" destOrd="0" presId="urn:microsoft.com/office/officeart/2005/8/layout/cycle3"/>
    <dgm:cxn modelId="{0FA91F66-057E-4267-B59C-5F7F3646E1AF}" type="presParOf" srcId="{B7B30AB4-30F2-49BF-B06B-6409F3AEFE08}" destId="{8CAA299D-682C-4705-B469-9873DF3F284C}" srcOrd="0" destOrd="0" presId="urn:microsoft.com/office/officeart/2005/8/layout/cycle3"/>
    <dgm:cxn modelId="{C7FCA615-6C4B-48E2-B272-A43F2065441C}" type="presParOf" srcId="{B7B30AB4-30F2-49BF-B06B-6409F3AEFE08}" destId="{70C449D7-3047-4927-A267-24D5459F8764}" srcOrd="1" destOrd="0" presId="urn:microsoft.com/office/officeart/2005/8/layout/cycle3"/>
    <dgm:cxn modelId="{A81EED6B-0CDB-457C-A865-B2E6AB3A42BE}" type="presParOf" srcId="{B7B30AB4-30F2-49BF-B06B-6409F3AEFE08}" destId="{955992B9-1124-490A-BEBC-942E8103EA1D}" srcOrd="2" destOrd="0" presId="urn:microsoft.com/office/officeart/2005/8/layout/cycle3"/>
    <dgm:cxn modelId="{29891681-C3EF-49A4-90C1-FC30228F2FAC}" type="presParOf" srcId="{B7B30AB4-30F2-49BF-B06B-6409F3AEFE08}" destId="{21C67018-8477-48BC-AFF7-942B536B0F71}" srcOrd="3" destOrd="0" presId="urn:microsoft.com/office/officeart/2005/8/layout/cycle3"/>
    <dgm:cxn modelId="{4AF34A98-5A97-41F7-80E4-D377547762A4}" type="presParOf" srcId="{B7B30AB4-30F2-49BF-B06B-6409F3AEFE08}" destId="{00884E90-C766-4882-B77E-E9AFA57FA0FF}" srcOrd="4" destOrd="0" presId="urn:microsoft.com/office/officeart/2005/8/layout/cycle3"/>
    <dgm:cxn modelId="{95F5F377-F49C-4DE6-8C2E-7D52A68C32E0}" type="presParOf" srcId="{B7B30AB4-30F2-49BF-B06B-6409F3AEFE08}" destId="{97F94DB8-28D3-40F6-B21C-E564D46C2689}" srcOrd="5" destOrd="0" presId="urn:microsoft.com/office/officeart/2005/8/layout/cycle3"/>
    <dgm:cxn modelId="{0B3B9448-6E4C-4F40-8933-4C7BE001A560}" type="presParOf" srcId="{B7B30AB4-30F2-49BF-B06B-6409F3AEFE08}" destId="{74F887BA-9C49-44B0-BD0E-045C0DB59A27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449D7-3047-4927-A267-24D5459F8764}">
      <dsp:nvSpPr>
        <dsp:cNvPr id="0" name=""/>
        <dsp:cNvSpPr/>
      </dsp:nvSpPr>
      <dsp:spPr>
        <a:xfrm>
          <a:off x="710994" y="-6120"/>
          <a:ext cx="5170898" cy="5170898"/>
        </a:xfrm>
        <a:prstGeom prst="circularArrow">
          <a:avLst>
            <a:gd name="adj1" fmla="val 5274"/>
            <a:gd name="adj2" fmla="val 312630"/>
            <a:gd name="adj3" fmla="val 14253224"/>
            <a:gd name="adj4" fmla="val 17112350"/>
            <a:gd name="adj5" fmla="val 547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A299D-682C-4705-B469-9873DF3F284C}">
      <dsp:nvSpPr>
        <dsp:cNvPr id="0" name=""/>
        <dsp:cNvSpPr/>
      </dsp:nvSpPr>
      <dsp:spPr>
        <a:xfrm>
          <a:off x="2327469" y="647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Data Discovery and Exploration</a:t>
          </a:r>
          <a:endParaRPr lang="en-US" sz="1900" kern="1200" dirty="0"/>
        </a:p>
      </dsp:txBody>
      <dsp:txXfrm>
        <a:off x="2374770" y="47948"/>
        <a:ext cx="1843346" cy="874372"/>
      </dsp:txXfrm>
    </dsp:sp>
    <dsp:sp modelId="{955992B9-1124-490A-BEBC-942E8103EA1D}">
      <dsp:nvSpPr>
        <dsp:cNvPr id="0" name=""/>
        <dsp:cNvSpPr/>
      </dsp:nvSpPr>
      <dsp:spPr>
        <a:xfrm>
          <a:off x="4144155" y="1049511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Pre-Processing</a:t>
          </a:r>
          <a:endParaRPr lang="en-US" sz="1900" kern="1200" dirty="0"/>
        </a:p>
      </dsp:txBody>
      <dsp:txXfrm>
        <a:off x="4191456" y="1096812"/>
        <a:ext cx="1843346" cy="874372"/>
      </dsp:txXfrm>
    </dsp:sp>
    <dsp:sp modelId="{21C67018-8477-48BC-AFF7-942B536B0F71}">
      <dsp:nvSpPr>
        <dsp:cNvPr id="0" name=""/>
        <dsp:cNvSpPr/>
      </dsp:nvSpPr>
      <dsp:spPr>
        <a:xfrm>
          <a:off x="4144155" y="3147239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Data Mining</a:t>
          </a:r>
          <a:endParaRPr lang="en-US" sz="1900" kern="1200" dirty="0"/>
        </a:p>
      </dsp:txBody>
      <dsp:txXfrm>
        <a:off x="4191456" y="3194540"/>
        <a:ext cx="1843346" cy="874372"/>
      </dsp:txXfrm>
    </dsp:sp>
    <dsp:sp modelId="{00884E90-C766-4882-B77E-E9AFA57FA0FF}">
      <dsp:nvSpPr>
        <dsp:cNvPr id="0" name=""/>
        <dsp:cNvSpPr/>
      </dsp:nvSpPr>
      <dsp:spPr>
        <a:xfrm>
          <a:off x="2327469" y="4196103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Post-Processing</a:t>
          </a:r>
        </a:p>
      </dsp:txBody>
      <dsp:txXfrm>
        <a:off x="2374770" y="4243404"/>
        <a:ext cx="1843346" cy="874372"/>
      </dsp:txXfrm>
    </dsp:sp>
    <dsp:sp modelId="{97F94DB8-28D3-40F6-B21C-E564D46C2689}">
      <dsp:nvSpPr>
        <dsp:cNvPr id="0" name=""/>
        <dsp:cNvSpPr/>
      </dsp:nvSpPr>
      <dsp:spPr>
        <a:xfrm>
          <a:off x="510784" y="3147239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Information Developement</a:t>
          </a:r>
          <a:endParaRPr lang="en-US" sz="1900" kern="1200" dirty="0"/>
        </a:p>
      </dsp:txBody>
      <dsp:txXfrm>
        <a:off x="558085" y="3194540"/>
        <a:ext cx="1843346" cy="874372"/>
      </dsp:txXfrm>
    </dsp:sp>
    <dsp:sp modelId="{74F887BA-9C49-44B0-BD0E-045C0DB59A27}">
      <dsp:nvSpPr>
        <dsp:cNvPr id="0" name=""/>
        <dsp:cNvSpPr/>
      </dsp:nvSpPr>
      <dsp:spPr>
        <a:xfrm>
          <a:off x="510784" y="1049511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Outcome Communication</a:t>
          </a:r>
          <a:endParaRPr lang="en-US" sz="1900" kern="1200" dirty="0"/>
        </a:p>
      </dsp:txBody>
      <dsp:txXfrm>
        <a:off x="558085" y="1096812"/>
        <a:ext cx="1843346" cy="874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4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9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72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3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5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0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1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1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08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02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/>
              <a:t>Data 340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7528" y="4773190"/>
            <a:ext cx="4308672" cy="1113657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Profitability Analysis of Business Categories (2015–2025)</a:t>
            </a:r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605D65AC-B075-01EE-ECED-3C437CA7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78" r="15709" b="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A62D42B-D438-1D3F-34C6-BFF42AEB2C39}"/>
              </a:ext>
            </a:extLst>
          </p:cNvPr>
          <p:cNvSpPr txBox="1"/>
          <p:nvPr/>
        </p:nvSpPr>
        <p:spPr>
          <a:xfrm>
            <a:off x="8505645" y="5886847"/>
            <a:ext cx="3340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P" dirty="0"/>
              <a:t>- Anoushka Gurung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2F36-DE15-4197-58F1-92BADE90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87" y="1033463"/>
            <a:ext cx="3859397" cy="1451723"/>
          </a:xfrm>
        </p:spPr>
        <p:txBody>
          <a:bodyPr>
            <a:normAutofit/>
          </a:bodyPr>
          <a:lstStyle/>
          <a:p>
            <a:r>
              <a:rPr lang="en-US" dirty="0"/>
              <a:t>Data Mining Methodology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32F201-C925-8A0B-447A-34BC116FD73A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605344851"/>
              </p:ext>
            </p:extLst>
          </p:nvPr>
        </p:nvGraphicFramePr>
        <p:xfrm>
          <a:off x="4937125" y="1033463"/>
          <a:ext cx="6592888" cy="5165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71" name="Text Placeholder 770">
            <a:extLst>
              <a:ext uri="{FF2B5EF4-FFF2-40B4-BE49-F238E27FC236}">
                <a16:creationId xmlns:a16="http://schemas.microsoft.com/office/drawing/2014/main" id="{F7DE59B9-3F75-E449-088F-159CD233D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1322" y="2346386"/>
            <a:ext cx="4658264" cy="427036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400" b="1" dirty="0"/>
              <a:t>Defined Question:</a:t>
            </a:r>
            <a:br>
              <a:rPr lang="en-US" sz="2400" dirty="0"/>
            </a:br>
            <a:r>
              <a:rPr lang="en-US" sz="2400" dirty="0"/>
              <a:t>Can we predict whether a customer’s experience will be </a:t>
            </a:r>
            <a:r>
              <a:rPr lang="en-US" sz="2400" i="1" dirty="0"/>
              <a:t>Positive</a:t>
            </a:r>
            <a:r>
              <a:rPr lang="en-US" sz="2400" dirty="0"/>
              <a:t> or </a:t>
            </a:r>
            <a:r>
              <a:rPr lang="en-US" sz="2400" i="1" dirty="0"/>
              <a:t>Disappointing</a:t>
            </a:r>
            <a:r>
              <a:rPr lang="en-US" sz="2400" dirty="0"/>
              <a:t> based on financial data?</a:t>
            </a:r>
          </a:p>
          <a:p>
            <a:r>
              <a:rPr lang="en-US" sz="2400" b="1" dirty="0"/>
              <a:t>Tools Used:</a:t>
            </a:r>
            <a:br>
              <a:rPr lang="en-US" sz="2400" dirty="0"/>
            </a:br>
            <a:r>
              <a:rPr lang="en-US" sz="2400" dirty="0"/>
              <a:t>Orange Data Mining (Decision Tree), Excel (Data cleaning)</a:t>
            </a:r>
          </a:p>
          <a:p>
            <a:r>
              <a:rPr lang="en-US" sz="2400" b="1" dirty="0"/>
              <a:t>Approach:</a:t>
            </a:r>
            <a:endParaRPr lang="en-US" sz="2400" dirty="0"/>
          </a:p>
          <a:p>
            <a:r>
              <a:rPr lang="en-US" sz="2400" dirty="0"/>
              <a:t>Clean and prepare dataset in Excel</a:t>
            </a:r>
          </a:p>
          <a:p>
            <a:r>
              <a:rPr lang="en-US" sz="2400" dirty="0"/>
              <a:t>Import into Orange</a:t>
            </a:r>
          </a:p>
          <a:p>
            <a:r>
              <a:rPr lang="en-US" sz="2400" dirty="0"/>
              <a:t>Build and evaluate a classification model</a:t>
            </a:r>
          </a:p>
          <a:p>
            <a:r>
              <a:rPr lang="en-US" sz="2400" dirty="0"/>
              <a:t>Interpret key decision rules and insights</a:t>
            </a:r>
          </a:p>
        </p:txBody>
      </p:sp>
    </p:spTree>
    <p:extLst>
      <p:ext uri="{BB962C8B-B14F-4D97-AF65-F5344CB8AC3E}">
        <p14:creationId xmlns:p14="http://schemas.microsoft.com/office/powerpoint/2010/main" val="125967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E3ABE-A6B7-49DA-CEF2-C5DEC1D3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025" y="374072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Each Data Mining Journey is unique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ontent Placeholder 30">
            <a:extLst>
              <a:ext uri="{FF2B5EF4-FFF2-40B4-BE49-F238E27FC236}">
                <a16:creationId xmlns:a16="http://schemas.microsoft.com/office/drawing/2014/main" id="{8278E6BD-614A-99B9-8C24-39B9F951A2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737124"/>
              </p:ext>
            </p:extLst>
          </p:nvPr>
        </p:nvGraphicFramePr>
        <p:xfrm>
          <a:off x="212725" y="1639888"/>
          <a:ext cx="6594474" cy="4248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1089">
                  <a:extLst>
                    <a:ext uri="{9D8B030D-6E8A-4147-A177-3AD203B41FA5}">
                      <a16:colId xmlns:a16="http://schemas.microsoft.com/office/drawing/2014/main" val="1807700341"/>
                    </a:ext>
                  </a:extLst>
                </a:gridCol>
                <a:gridCol w="5213385">
                  <a:extLst>
                    <a:ext uri="{9D8B030D-6E8A-4147-A177-3AD203B41FA5}">
                      <a16:colId xmlns:a16="http://schemas.microsoft.com/office/drawing/2014/main" val="314431468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Data Discovery and Exploration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Specify the Question and scope the answer, Obtain the Data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9064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Pre-Processing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Data Summaries (Categorical, Numeric),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Identification and Summarization of Data Issues (Null, Missing, Corrutped values,etc.),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Feature Selection,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Dimensionality Reduction,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Normalization,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Data Subsetting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753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Data Mining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Resolving Data Issues, Performing Analysis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72044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Post-Processing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Statistical Testing, Significance Testing, Sampling of Instances,  Hypothesis Testing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52285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Information Development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Analysis Outcomes, Data Review, Data Issue Summary,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42026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Outcome Communication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Answering the Specific Questions, Report formation, and messaging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587640"/>
                  </a:ext>
                </a:extLst>
              </a:tr>
            </a:tbl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1DCB8544-DD14-62D1-AF13-1D534191F5D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807199" y="2202427"/>
            <a:ext cx="538480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Began with raw Excel dataset containing profitability and experience fields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records had missing or inconsistent profit values → corrected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Imported the cleaned data into Orange for modeling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a workflow using </a:t>
            </a:r>
            <a:r>
              <a:rPr kumimoji="0" lang="en-NP" altLang="en-NP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→ Select Columns → Decision Tree → Test &amp; Score → Data Table</a:t>
            </a:r>
            <a:endParaRPr kumimoji="0" lang="en-NP" altLang="en-N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Documented each step and observed how model results changed as data improved</a:t>
            </a:r>
          </a:p>
        </p:txBody>
      </p:sp>
    </p:spTree>
    <p:extLst>
      <p:ext uri="{BB962C8B-B14F-4D97-AF65-F5344CB8AC3E}">
        <p14:creationId xmlns:p14="http://schemas.microsoft.com/office/powerpoint/2010/main" val="1952708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BBE1-30F8-DB19-4D93-BE87ACA3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Discovery and Exploration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D4561A0-BE61-464D-5F23-4C0CDB7F2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75472" y="2997604"/>
            <a:ext cx="9316528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Dataset: Classification_exercise_beginning.xlsx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Variables explored: Profit, Revenue, Order Count, Customer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variable: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Experience (Positive / Disappointing)</a:t>
            </a:r>
            <a:endParaRPr kumimoji="0" lang="en-NP" altLang="en-NP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Reviewed distributions to identify outliers or missing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Developed understanding of which variables might drive satisfaction</a:t>
            </a:r>
          </a:p>
        </p:txBody>
      </p:sp>
    </p:spTree>
    <p:extLst>
      <p:ext uri="{BB962C8B-B14F-4D97-AF65-F5344CB8AC3E}">
        <p14:creationId xmlns:p14="http://schemas.microsoft.com/office/powerpoint/2010/main" val="368479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2156-7530-5A1E-B7CB-6D49EFAF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2D32-FE55-50E1-0E0F-CF676B98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9E5BDC6-D84A-CE5C-AF56-56FBEDE473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36519" y="2029132"/>
            <a:ext cx="725548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any missing or invalid entries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Standardized variable names and formats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Selected relevant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Predictors: Profit, Revenue, Order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Target: 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Verified data types and converted categorical values as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Saved cleaned version for use in Orange</a:t>
            </a:r>
          </a:p>
        </p:txBody>
      </p:sp>
    </p:spTree>
    <p:extLst>
      <p:ext uri="{BB962C8B-B14F-4D97-AF65-F5344CB8AC3E}">
        <p14:creationId xmlns:p14="http://schemas.microsoft.com/office/powerpoint/2010/main" val="363898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FC5D-EE0A-B7F3-0646-9949B0E9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53C0-E0E7-D9DE-5461-6344B2D3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D3CA501-E7A7-BCDF-5274-326BA60949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1567" y="2036310"/>
            <a:ext cx="8900251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NP" altLang="en-NP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Decision Tree 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algorithm in Orange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Defined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Experience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target variable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Trained model using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Profit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Order Count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predictors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 tree split: </a:t>
            </a:r>
            <a:r>
              <a:rPr kumimoji="0" lang="en-NP" altLang="en-NP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Profit &gt; 2368.14 → 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mostly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Positive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experiences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NP" altLang="en-NP" sz="2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 &amp; Score</a:t>
            </a: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widget to measure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P" altLang="en-NP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Evaluated the structure and logic of the tree</a:t>
            </a:r>
          </a:p>
        </p:txBody>
      </p:sp>
    </p:spTree>
    <p:extLst>
      <p:ext uri="{BB962C8B-B14F-4D97-AF65-F5344CB8AC3E}">
        <p14:creationId xmlns:p14="http://schemas.microsoft.com/office/powerpoint/2010/main" val="2265078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6C53B3-1652-EA8C-0CAE-D32AE5D22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02" y="195440"/>
            <a:ext cx="10347395" cy="6467120"/>
          </a:xfrm>
        </p:spPr>
      </p:pic>
    </p:spTree>
    <p:extLst>
      <p:ext uri="{BB962C8B-B14F-4D97-AF65-F5344CB8AC3E}">
        <p14:creationId xmlns:p14="http://schemas.microsoft.com/office/powerpoint/2010/main" val="950624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A1C3-B87A-2C89-3503-72FF128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17A9-4470-BD1A-EAB9-89038D42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F990-2F67-FAB7-FD5D-6A7E8D6C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430" y="616933"/>
            <a:ext cx="6594490" cy="5166360"/>
          </a:xfrm>
        </p:spPr>
        <p:txBody>
          <a:bodyPr>
            <a:noAutofit/>
          </a:bodyPr>
          <a:lstStyle/>
          <a:p>
            <a:r>
              <a:rPr lang="en-US" sz="2500" dirty="0"/>
              <a:t>Interpreted the decision tree to identify main drivers of experience</a:t>
            </a:r>
          </a:p>
          <a:p>
            <a:r>
              <a:rPr lang="en-US" sz="2500" dirty="0"/>
              <a:t>Compared predictions to actual customer outcomes</a:t>
            </a:r>
          </a:p>
          <a:p>
            <a:r>
              <a:rPr lang="en-US" sz="2500" dirty="0"/>
              <a:t>Observed pattern:</a:t>
            </a:r>
          </a:p>
          <a:p>
            <a:pPr lvl="1"/>
            <a:r>
              <a:rPr lang="en-US" sz="2500" dirty="0"/>
              <a:t>High-profit customers → mostly positive experiences</a:t>
            </a:r>
          </a:p>
          <a:p>
            <a:pPr lvl="1"/>
            <a:r>
              <a:rPr lang="en-US" sz="2500" dirty="0"/>
              <a:t>Low-profit, low-revenue customers → more disappointing experiences</a:t>
            </a:r>
          </a:p>
          <a:p>
            <a:r>
              <a:rPr lang="en-US" sz="2500" dirty="0"/>
              <a:t>Accuracy score verified model performed better than random guessing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4286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0215B-1915-3305-2961-3252C692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A821-6197-0D2F-6BC8-187CA770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5E1EC-2B3A-123D-E665-6A50DB6D4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Profit and revenue strongly influence experience outcomes</a:t>
            </a:r>
          </a:p>
          <a:p>
            <a:r>
              <a:rPr lang="en-US" sz="2400" dirty="0"/>
              <a:t>Profit threshold ≈ 2368 separates positive from disappointing customers</a:t>
            </a:r>
          </a:p>
          <a:p>
            <a:r>
              <a:rPr lang="en-US" sz="2400" dirty="0"/>
              <a:t>Order count plays a secondary but supportive role</a:t>
            </a:r>
          </a:p>
          <a:p>
            <a:r>
              <a:rPr lang="en-US" sz="2400" dirty="0"/>
              <a:t>Visual workflow in Orange clearly mapped these relationships</a:t>
            </a:r>
          </a:p>
          <a:p>
            <a:endParaRPr lang="en-US" sz="2400" dirty="0"/>
          </a:p>
          <a:p>
            <a:r>
              <a:rPr lang="en-US" sz="2400" dirty="0"/>
              <a:t>Financial performance is a meaningful indicator of customer satisfaction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778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3BCD-5807-4907-BE38-9989D80E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FF5F-39E6-CABD-8616-9246629C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3DDF-8149-CDC3-1DA8-8C72E6FC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Conclusions:</a:t>
            </a:r>
            <a:endParaRPr lang="en-US" dirty="0"/>
          </a:p>
          <a:p>
            <a:r>
              <a:rPr lang="en-US" dirty="0"/>
              <a:t>The decision tree successfully classified customer experiences</a:t>
            </a:r>
          </a:p>
          <a:p>
            <a:r>
              <a:rPr lang="en-US" dirty="0"/>
              <a:t>Higher profit = higher likelihood of positive experience</a:t>
            </a:r>
          </a:p>
          <a:p>
            <a:r>
              <a:rPr lang="en-US" dirty="0"/>
              <a:t>Orange made the analysis visual, simple, and interpretable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Recommendations:</a:t>
            </a:r>
            <a:endParaRPr lang="en-US" dirty="0"/>
          </a:p>
          <a:p>
            <a:r>
              <a:rPr lang="en-US" dirty="0"/>
              <a:t>Focus on improving low-profit customer segments</a:t>
            </a:r>
          </a:p>
          <a:p>
            <a:r>
              <a:rPr lang="en-US" dirty="0"/>
              <a:t>Add new variables (e.g., service time, product quality) for future models</a:t>
            </a:r>
          </a:p>
          <a:p>
            <a:r>
              <a:rPr lang="en-US" dirty="0"/>
              <a:t>Continue using Orange for quick, visual machine learning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23517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552</Words>
  <Application>Microsoft Macintosh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Narrow</vt:lpstr>
      <vt:lpstr>Arial</vt:lpstr>
      <vt:lpstr>Grandview Display</vt:lpstr>
      <vt:lpstr>DashVTI</vt:lpstr>
      <vt:lpstr>Data 340 Data Mining</vt:lpstr>
      <vt:lpstr>Data Mining Methodology</vt:lpstr>
      <vt:lpstr>Each Data Mining Journey is unique</vt:lpstr>
      <vt:lpstr>Data Discovery and Exploration</vt:lpstr>
      <vt:lpstr>Pre-Processing</vt:lpstr>
      <vt:lpstr>Data Mining</vt:lpstr>
      <vt:lpstr>PowerPoint Presentation</vt:lpstr>
      <vt:lpstr>Post Processing</vt:lpstr>
      <vt:lpstr>Information Development</vt:lpstr>
      <vt:lpstr>Outcome Communication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Microsoft Office User</cp:lastModifiedBy>
  <cp:revision>160</cp:revision>
  <dcterms:created xsi:type="dcterms:W3CDTF">2025-09-08T23:58:59Z</dcterms:created>
  <dcterms:modified xsi:type="dcterms:W3CDTF">2025-10-09T03:24:45Z</dcterms:modified>
</cp:coreProperties>
</file>